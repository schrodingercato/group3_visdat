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1214"/>
          </a:solidFill>
          <a:ln>
            <a:solidFill>
              <a:srgbClr val="5E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CDD0"/>
                </a:solidFill>
                <a:latin typeface="Segoe UI"/>
              </a:defRPr>
            </a:pPr>
            <a:r>
              <a:t>AISYAH RAHMI NADJIB  |  NRP 5049241030              @KELOMPOK 3  |  ETS VISUALISASI DATA MEDIS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600" b="1">
                <a:solidFill>
                  <a:srgbClr val="76181C"/>
                </a:solidFill>
                <a:latin typeface="Arial Black"/>
              </a:defRPr>
            </a:pPr>
            <a:r>
              <a:t>Visualisasi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 Black"/>
              </a:defRPr>
            </a:pPr>
            <a:r>
              <a:t>SLIDE 8: VISUALISASI POSE 3D &amp; DIAGRAM INTERAKSI 2D</a:t>
            </a:r>
          </a:p>
          <a:p>
            <a:pPr>
              <a:defRPr sz="1100">
                <a:solidFill>
                  <a:srgbClr val="F5CDD0"/>
                </a:solidFill>
                <a:latin typeface="Segoe UI"/>
              </a:defRPr>
            </a:pPr>
            <a:r>
              <a:t>Pose Konformasi Spasial (PyMOL) &amp; Pemetaan Interaksi Residu (BIOVIA Discovery Studio) — Target 3L4W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6217920" cy="4617720"/>
          </a:xfrm>
          <a:prstGeom prst="roundRect">
            <a:avLst/>
          </a:prstGeom>
          <a:solidFill>
            <a:srgbClr val="460C0E"/>
          </a:solidFill>
          <a:ln w="2540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5888736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EAB308"/>
                </a:solidFill>
                <a:latin typeface="Segoe UI"/>
              </a:defRPr>
            </a:pPr>
            <a:r>
              <a:t>LUTEOLIN (LEAD COMPOUND) — BINDING AFFINITY: -7.9 KCAL/MOL</a:t>
            </a:r>
          </a:p>
          <a:p>
            <a:pPr>
              <a:defRPr sz="900">
                <a:solidFill>
                  <a:srgbClr val="FFFFFF"/>
                </a:solidFill>
                <a:latin typeface="Segoe UI"/>
              </a:defRPr>
            </a:pPr>
            <a:r>
              <a:t>Pose Paling Stabil | 6 Ikatan H (Asp327, Asp542, Asp203) | 3 Kontak π-π (Trp406, Phe450, Phe575)</a:t>
            </a:r>
          </a:p>
        </p:txBody>
      </p:sp>
      <p:pic>
        <p:nvPicPr>
          <p:cNvPr id="8" name="Picture 7" descr="visualisasi_kompleks_lute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670048"/>
            <a:ext cx="5888736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920240"/>
            <a:ext cx="4279392" cy="1417320"/>
          </a:xfrm>
          <a:prstGeom prst="roundRect">
            <a:avLst/>
          </a:prstGeom>
          <a:solidFill>
            <a:srgbClr val="460C0E"/>
          </a:solidFill>
          <a:ln w="1524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87768" y="2029968"/>
            <a:ext cx="118872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D_interaction_miglit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048256"/>
            <a:ext cx="1152144" cy="11612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49640" y="1993392"/>
            <a:ext cx="281635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80" b="1">
                <a:solidFill>
                  <a:srgbClr val="A51C24"/>
                </a:solidFill>
                <a:latin typeface="Segoe UI"/>
              </a:defRPr>
            </a:pPr>
            <a:r>
              <a:t>MIGLITOL (KONTROL NATIVE) | -5.5 kcal/mol</a:t>
            </a:r>
          </a:p>
          <a:p>
            <a:pPr>
              <a:defRPr sz="819">
                <a:solidFill>
                  <a:srgbClr val="FFFFFF"/>
                </a:solidFill>
                <a:latin typeface="Segoe UI"/>
              </a:defRPr>
            </a:pPr>
            <a:r>
              <a:t>• 7 Ikatan H (Asp327, Asp542, His600, Asp203, Arg526).</a:t>
            </a:r>
            <a:br/>
            <a:r>
              <a:t>• Unfavorable bump dengan Arg526 (3.09 Å) batasi stabilitas.</a:t>
            </a:r>
            <a:br/>
            <a:r>
              <a:t>• Validasi redocking RMSD = 1.05 Å (pose terverifikasi).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3520440"/>
            <a:ext cx="4279392" cy="1417320"/>
          </a:xfrm>
          <a:prstGeom prst="roundRect">
            <a:avLst/>
          </a:prstGeom>
          <a:solidFill>
            <a:srgbClr val="460C0E"/>
          </a:solidFill>
          <a:ln w="1524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87768" y="3630168"/>
            <a:ext cx="118872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D_interaction_quercet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3648456"/>
            <a:ext cx="1152144" cy="11612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49640" y="3593592"/>
            <a:ext cx="281635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80" b="1">
                <a:solidFill>
                  <a:srgbClr val="EAB308"/>
                </a:solidFill>
                <a:latin typeface="Segoe UI"/>
              </a:defRPr>
            </a:pPr>
            <a:r>
              <a:t>QUERCETIN (KANDIDAT 1) | -7.1 kcal/mol</a:t>
            </a:r>
          </a:p>
          <a:p>
            <a:pPr>
              <a:defRPr sz="819">
                <a:solidFill>
                  <a:srgbClr val="FFFFFF"/>
                </a:solidFill>
                <a:latin typeface="Segoe UI"/>
              </a:defRPr>
            </a:pPr>
            <a:r>
              <a:t>• 4 Ikatan H: Asp327 (2.76 Å), Tyr605 (2.82 Å), Asp542, Asp443.</a:t>
            </a:r>
            <a:br/>
            <a:r>
              <a:t>• Interaksi hidrofobik π-π stacking kuat Tyr299 &amp; Phe575.</a:t>
            </a:r>
            <a:br/>
            <a:r>
              <a:t>• Cincin flavonol planar mengisi celah hidrofobik aktif.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5120640"/>
            <a:ext cx="4279392" cy="1417320"/>
          </a:xfrm>
          <a:prstGeom prst="roundRect">
            <a:avLst/>
          </a:prstGeom>
          <a:solidFill>
            <a:srgbClr val="460C0E"/>
          </a:solidFill>
          <a:ln w="1524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87768" y="5230368"/>
            <a:ext cx="1188720" cy="1197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2D_interaction_mangifer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5248656"/>
            <a:ext cx="1152144" cy="11612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49640" y="5193792"/>
            <a:ext cx="2816352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80" b="1">
                <a:solidFill>
                  <a:srgbClr val="F5CDD0"/>
                </a:solidFill>
                <a:latin typeface="Segoe UI"/>
              </a:defRPr>
            </a:pPr>
            <a:r>
              <a:t>MANGIFERIN (KANDIDAT 3) | -7.0 kcal/mol</a:t>
            </a:r>
          </a:p>
          <a:p>
            <a:pPr>
              <a:defRPr sz="819">
                <a:solidFill>
                  <a:srgbClr val="FFFFFF"/>
                </a:solidFill>
                <a:latin typeface="Segoe UI"/>
              </a:defRPr>
            </a:pPr>
            <a:r>
              <a:t>• 6 Ikatan H: Arg526 (2.80 Å), Asp203, Asp327, His600, Asp443, Asp542.</a:t>
            </a:r>
            <a:br/>
            <a:r>
              <a:t>• Cabang C-glukosil tebal menembus saku; inti xanton di bibir gerbang.</a:t>
            </a:r>
            <a:br/>
            <a:r>
              <a:t>• Hambatan sterik ringan akibat volume molekul besar (MW 422).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B"/>
          </a:solidFill>
          <a:ln>
            <a:solidFill>
              <a:srgbClr val="F2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5E1214"/>
                </a:solidFill>
                <a:latin typeface="Segoe UI"/>
              </a:defRPr>
            </a:pPr>
            <a:r>
              <a:t>AISYAH RAHMI NADJIB  |  NRP 5049241030              @KELOMPOK 3  |  ETS VISUALISASI DATA MEDIS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600" b="1">
                <a:solidFill>
                  <a:srgbClr val="E4DADA"/>
                </a:solidFill>
                <a:latin typeface="Arial Black"/>
              </a:defRPr>
            </a:pPr>
            <a:r>
              <a:t>Interpretasi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5E1214"/>
                </a:solidFill>
                <a:latin typeface="Arial Black"/>
              </a:defRPr>
            </a:pPr>
            <a:r>
              <a:t>SLIDE 9: INTERPRETASI BIOKIMIA &amp; RESIDU KATALITIK</a:t>
            </a:r>
          </a:p>
          <a:p>
            <a:pPr>
              <a:defRPr sz="1100">
                <a:solidFill>
                  <a:srgbClr val="1E1E1E"/>
                </a:solidFill>
                <a:latin typeface="Segoe UI"/>
              </a:defRPr>
            </a:pPr>
            <a:r>
              <a:t>Matriks Komparasi Bab 7, Penguncian Triad Katalitik (Asp327/542/203), dan Profil ADMET Lipinski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20240"/>
          <a:ext cx="1072865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005840"/>
                <a:gridCol w="2377440"/>
                <a:gridCol w="1463040"/>
                <a:gridCol w="2590495"/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Senyawa</a:t>
                      </a:r>
                    </a:p>
                  </a:txBody>
                  <a:tcPr>
                    <a:solidFill>
                      <a:srgbClr val="5E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Binding Energy</a:t>
                      </a:r>
                    </a:p>
                  </a:txBody>
                  <a:tcPr>
                    <a:solidFill>
                      <a:srgbClr val="5E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H-Bonds</a:t>
                      </a:r>
                    </a:p>
                  </a:txBody>
                  <a:tcPr>
                    <a:solidFill>
                      <a:srgbClr val="5E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Residu Asam Amino Kunci</a:t>
                      </a:r>
                    </a:p>
                  </a:txBody>
                  <a:tcPr>
                    <a:solidFill>
                      <a:srgbClr val="5E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% Kemiripan</a:t>
                      </a:r>
                    </a:p>
                  </a:txBody>
                  <a:tcPr>
                    <a:solidFill>
                      <a:srgbClr val="5E12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8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Profil Lipinski Rule of 5</a:t>
                      </a:r>
                    </a:p>
                  </a:txBody>
                  <a:tcPr>
                    <a:solidFill>
                      <a:srgbClr val="5E121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Miglitol (Kontrol Native)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-5.5 kcal/mol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Asp327, Asp542, His600, Asp203, Arg526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100.0%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MW 207 | LogP -2.01 | 0 Violations</a:t>
                      </a:r>
                      <a:br/>
                      <a:r>
                        <a:t>Kelarutan Sangat Tinggi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Quercetin (Kandidat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-7.1 kcal/mol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Asp327, Tyr605, Asp542, Asp443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MW 302 | LogP 1.54 | 0 Violations</a:t>
                      </a:r>
                      <a:br/>
                      <a:r>
                        <a:t>Absorpsi Usus Moderat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E1214"/>
                          </a:solidFill>
                          <a:latin typeface="Segoe UI"/>
                        </a:defRPr>
                      </a:pPr>
                      <a:r>
                        <a:t>Luteolin (Kandidat 2 — Lead)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E1214"/>
                          </a:solidFill>
                          <a:latin typeface="Segoe UI"/>
                        </a:defRPr>
                      </a:pPr>
                      <a:r>
                        <a:t>-7.9 kcal/mol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E1214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E1214"/>
                          </a:solidFill>
                          <a:latin typeface="Segoe UI"/>
                        </a:defRPr>
                      </a:pPr>
                      <a:r>
                        <a:t>Asp327, His600, Asp203, Tyr299, Asp542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E1214"/>
                          </a:solidFill>
                          <a:latin typeface="Segoe UI"/>
                        </a:defRPr>
                      </a:pPr>
                      <a:r>
                        <a:t>92.9% (Tertinggi)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5E1214"/>
                          </a:solidFill>
                          <a:latin typeface="Segoe UI"/>
                        </a:defRPr>
                      </a:pPr>
                      <a:r>
                        <a:t>MW 286 | LogP 2.28 | 0 Violations</a:t>
                      </a:r>
                      <a:br/>
                      <a:r>
                        <a:t>Drug-Likeness Paling Optimal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Mangiferin (Kandidat 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-7.0 kcal/mol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Arg526, Asp203, Asp327, His600, Asp542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1E1E"/>
                          </a:solidFill>
                          <a:latin typeface="Segoe UI"/>
                        </a:defRPr>
                      </a:pPr>
                      <a:r>
                        <a:t>MW 422 | LogP -0.65 | 2 Violations</a:t>
                      </a:r>
                      <a:br/>
                      <a:r>
                        <a:t>Bioavailabilitas Rendah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206240"/>
            <a:ext cx="3328416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15968"/>
            <a:ext cx="30540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1214"/>
                </a:solidFill>
                <a:latin typeface="Segoe UI"/>
              </a:defRPr>
            </a:pPr>
            <a:r>
              <a:t>TRIAD RESIDU KATALITIK</a:t>
            </a:r>
          </a:p>
          <a:p>
            <a:pPr>
              <a:spcAft>
                <a:spcPts val="300"/>
              </a:spcAft>
              <a:defRPr sz="1100" b="1">
                <a:solidFill>
                  <a:srgbClr val="A51C24"/>
                </a:solidFill>
                <a:latin typeface="Segoe UI"/>
              </a:defRPr>
            </a:pPr>
            <a:r>
              <a:t>Penguncian Pusat Reaksi</a:t>
            </a:r>
          </a:p>
          <a:p>
            <a:pPr>
              <a:defRPr sz="850">
                <a:solidFill>
                  <a:srgbClr val="1E1E1E"/>
                </a:solidFill>
                <a:latin typeface="Segoe UI"/>
              </a:defRPr>
            </a:pPr>
            <a:r>
              <a:t>• Asp542: Nukleofil katalitik yang menyerang ikatan glikosidik substrat karbohidrat.</a:t>
            </a:r>
            <a:br/>
            <a:r>
              <a:t>• Asp327: Donor asam-basa memprotonasi oksigen glikosidik.</a:t>
            </a:r>
            <a:br/>
            <a:r>
              <a:t>• Asp203: Penstabil keadaan transisi (transition state).</a:t>
            </a:r>
            <a:br/>
            <a:br/>
            <a:r>
              <a:t>Luteolin secara simultan mengikat ketiga triad katalitik ini (2.66 - 3.17 Å), mematikan aktivitas hidrolisis disakarida.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420624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4315968"/>
            <a:ext cx="30540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1214"/>
                </a:solidFill>
                <a:latin typeface="Segoe UI"/>
              </a:defRPr>
            </a:pPr>
            <a:r>
              <a:t>TERMODINAMIKA PENGIKATAN</a:t>
            </a:r>
          </a:p>
          <a:p>
            <a:pPr>
              <a:spcAft>
                <a:spcPts val="300"/>
              </a:spcAft>
              <a:defRPr sz="1100" b="1">
                <a:solidFill>
                  <a:srgbClr val="A51C24"/>
                </a:solidFill>
                <a:latin typeface="Segoe UI"/>
              </a:defRPr>
            </a:pPr>
            <a:r>
              <a:t>Mengapa Bahan Alam &gt; Miglitol?</a:t>
            </a:r>
          </a:p>
          <a:p>
            <a:pPr>
              <a:defRPr sz="850">
                <a:solidFill>
                  <a:srgbClr val="1E1E1E"/>
                </a:solidFill>
                <a:latin typeface="Segoe UI"/>
              </a:defRPr>
            </a:pPr>
            <a:r>
              <a:t>• Tolakan Kationik Miglitol:</a:t>
            </a:r>
            <a:br/>
            <a:r>
              <a:t>Miglitol memiliki kontak tolak-menolak muatan (Unfavorable Donor-Donor) dengan Arg526 (3.09 Å), mendestabilisasi energi netto (-5.5 kcal/mol).</a:t>
            </a:r>
            <a:br/>
            <a:br/>
            <a:r>
              <a:t>• Sinergi Bimodal Flavonoid:</a:t>
            </a:r>
            <a:br/>
            <a:r>
              <a:t>Ikatan H terarah diperkuat oleh keuntungan entropi desolvasi dari π-π stacking aromatik (Trp406, Phe575, Phe450).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20624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4315968"/>
            <a:ext cx="30540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1214"/>
                </a:solidFill>
                <a:latin typeface="Segoe UI"/>
              </a:defRPr>
            </a:pPr>
            <a:r>
              <a:t>SELEKTIVITAS ENZIMATIS</a:t>
            </a:r>
          </a:p>
          <a:p>
            <a:pPr>
              <a:spcAft>
                <a:spcPts val="300"/>
              </a:spcAft>
              <a:defRPr sz="1100" b="1">
                <a:solidFill>
                  <a:srgbClr val="A51C24"/>
                </a:solidFill>
                <a:latin typeface="Segoe UI"/>
              </a:defRPr>
            </a:pPr>
            <a:r>
              <a:t>Minim Efek Samping Kolon</a:t>
            </a:r>
          </a:p>
          <a:p>
            <a:pPr>
              <a:defRPr sz="850">
                <a:solidFill>
                  <a:srgbClr val="1E1E1E"/>
                </a:solidFill>
                <a:latin typeface="Segoe UI"/>
              </a:defRPr>
            </a:pPr>
            <a:r>
              <a:t>• Masalah Obat Standar (Akarbosa):</a:t>
            </a:r>
            <a:br/>
            <a:r>
              <a:t>Menghambat kuat α-amilase pankreas, memicu fermentasi karbohidrat kolon (efek samping flatulensi parah &amp; diare).</a:t>
            </a:r>
            <a:br/>
            <a:br/>
            <a:r>
              <a:t>• Keunggulan Luteolin &amp; Quercetin:</a:t>
            </a:r>
            <a:br/>
            <a:r>
              <a:t>Sangat selektif terhadap α-glucosidase usus halus, namun berdaya hambat lemah terhadap α-amilase pankreas.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1214"/>
          </a:solidFill>
          <a:ln>
            <a:solidFill>
              <a:srgbClr val="5E12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CDD0"/>
                </a:solidFill>
                <a:latin typeface="Segoe UI"/>
              </a:defRPr>
            </a:pPr>
            <a:r>
              <a:t>AISYAH RAHMI NADJIB  |  NRP 5049241030              @KELOMPOK 3  |  ETS VISUALISASI DATA MEDIS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600" b="1">
                <a:solidFill>
                  <a:srgbClr val="76181C"/>
                </a:solidFill>
                <a:latin typeface="Arial Black"/>
              </a:defRPr>
            </a:pPr>
            <a: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Arial Black"/>
              </a:defRPr>
            </a:pPr>
            <a:r>
              <a:t>SLIDE 10: KESIMPULAN AKHIR &amp; REKOMENDASI TERAPI</a:t>
            </a:r>
          </a:p>
          <a:p>
            <a:pPr>
              <a:defRPr sz="1100">
                <a:solidFill>
                  <a:srgbClr val="F5CDD0"/>
                </a:solidFill>
                <a:latin typeface="Segoe UI"/>
              </a:defRPr>
            </a:pPr>
            <a:r>
              <a:t>Hierarki Efikasi Komputasional, Rekomendasi Lead Compound, dan Batasan Klaim Akademik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75504" cy="3566160"/>
          </a:xfrm>
          <a:prstGeom prst="roundRect">
            <a:avLst/>
          </a:prstGeom>
          <a:solidFill>
            <a:srgbClr val="460C0E"/>
          </a:solidFill>
          <a:ln w="1905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2"/>
            <a:ext cx="4809744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AB308"/>
                </a:solidFill>
                <a:latin typeface="Segoe UI"/>
              </a:defRPr>
            </a:pPr>
            <a:r>
              <a:t>HIERARKI EFIKASI &amp; REKOMENDASI LEAD</a:t>
            </a:r>
          </a:p>
          <a:p>
            <a:pPr>
              <a:spcAft>
                <a:spcPts val="6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Urutan Afinitas Termodinamika In Silico:</a:t>
            </a:r>
            <a:br/>
            <a:r>
              <a:t>Luteolin (-7.9) &gt; Quercetin (-7.1) &gt; Mangiferin (-7.0) &gt; Miglitol (-5.5 kcal/mol)</a:t>
            </a:r>
          </a:p>
          <a:p>
            <a:pPr>
              <a:defRPr sz="919">
                <a:solidFill>
                  <a:srgbClr val="F5CDD0"/>
                </a:solidFill>
                <a:latin typeface="Segoe UI"/>
              </a:defRPr>
            </a:pPr>
            <a:r>
              <a:t>Mengapa Luteolin Terpilih Sebagai Lead Compound?</a:t>
            </a:r>
            <a:br/>
            <a:r>
              <a:t>1. Energi Bebas Terendah (-7.9 kcal/mol): Kompleks paling stabil.</a:t>
            </a:r>
            <a:br/>
            <a:r>
              <a:t>2. Kemiripan Situs Aktif 92.9%: Menduduki kantung native secara presisi.</a:t>
            </a:r>
            <a:br/>
            <a:r>
              <a:t>3. Mengunci Triad Katalitik: Ikatan H dengan Asp327, Asp542, &amp; Asp203.</a:t>
            </a:r>
            <a:br/>
            <a:r>
              <a:t>4. Kepatuhan Lipinski Penuh: 0 pelanggaran (MW 286 g/mol, LogP 2.28).</a:t>
            </a:r>
            <a:br/>
            <a:r>
              <a:t>5. Bebas 3-OH Labil: Lebih resisten terhadap reaksi konjugasi glukuronidasi cepat.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1097280" cy="320040"/>
          </a:xfrm>
          <a:prstGeom prst="roundRect">
            <a:avLst/>
          </a:prstGeom>
          <a:solidFill>
            <a:srgbClr val="5E1214"/>
          </a:solidFill>
          <a:ln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109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EAB308"/>
                </a:solidFill>
                <a:latin typeface="Segoe UI"/>
              </a:defRPr>
            </a:pPr>
            <a:r>
              <a:t>-7.9 kcal/mol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5029200"/>
            <a:ext cx="1097280" cy="320040"/>
          </a:xfrm>
          <a:prstGeom prst="roundRect">
            <a:avLst/>
          </a:prstGeom>
          <a:solidFill>
            <a:srgbClr val="5E1214"/>
          </a:solidFill>
          <a:ln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21408" y="50109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22C55E"/>
                </a:solidFill>
                <a:latin typeface="Segoe UI"/>
              </a:defRPr>
            </a:pPr>
            <a:r>
              <a:t>92.9% Simil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5029200"/>
            <a:ext cx="1097280" cy="320040"/>
          </a:xfrm>
          <a:prstGeom prst="roundRect">
            <a:avLst/>
          </a:prstGeom>
          <a:solidFill>
            <a:srgbClr val="5E1214"/>
          </a:solidFill>
          <a:ln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8416" y="50109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0 Violations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35424" y="5029200"/>
            <a:ext cx="1097280" cy="320040"/>
          </a:xfrm>
          <a:prstGeom prst="roundRect">
            <a:avLst/>
          </a:prstGeom>
          <a:solidFill>
            <a:srgbClr val="5E1214"/>
          </a:solidFill>
          <a:ln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50109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EAB308"/>
                </a:solidFill>
                <a:latin typeface="Segoe UI"/>
              </a:defRPr>
            </a:pPr>
            <a:r>
              <a:t>Lead Comp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920240"/>
            <a:ext cx="5175504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084832"/>
            <a:ext cx="4809744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5E1214"/>
                </a:solidFill>
                <a:latin typeface="Segoe UI"/>
              </a:defRPr>
            </a:pPr>
            <a:r>
              <a:t>BATASAN KLAIM AKADEMIK (ACADEMIC DISCLAIMER)</a:t>
            </a:r>
          </a:p>
          <a:p>
            <a:pPr>
              <a:spcAft>
                <a:spcPts val="600"/>
              </a:spcAft>
              <a:defRPr sz="1050" b="1">
                <a:solidFill>
                  <a:srgbClr val="A51C24"/>
                </a:solidFill>
                <a:latin typeface="Segoe UI"/>
              </a:defRPr>
            </a:pPr>
            <a:r>
              <a:t>In Silico adalah Prediksi Fisik Statis, Bukan Bukti Klinis Final:</a:t>
            </a:r>
          </a:p>
          <a:p>
            <a:pPr>
              <a:defRPr sz="919">
                <a:solidFill>
                  <a:srgbClr val="1E1E1E"/>
                </a:solidFill>
                <a:latin typeface="Segoe UI"/>
              </a:defRPr>
            </a:pPr>
            <a:r>
              <a:t>• Model Reseptor Kaku (Rigid Docking):</a:t>
            </a:r>
            <a:br/>
            <a:r>
              <a:t>  Simulasi komputasi mengabaikan dinamika fleksibilitas enzim in vivo.</a:t>
            </a:r>
            <a:br/>
            <a:br/>
            <a:r>
              <a:t>• Tidak Boleh Overclaim Obat Kuratif:</a:t>
            </a:r>
            <a:br/>
            <a:r>
              <a:t>  Temuan ini merupakan hipotesis pengikatan teoritis dan BUKAN obat paten yang siap diresepkan secara langsung.</a:t>
            </a:r>
            <a:br/>
            <a:br/>
            <a:r>
              <a:t>• Arah Validasi Eksperimental Lanjutan:</a:t>
            </a:r>
            <a:br/>
            <a:r>
              <a:t>  Wajib diverifikasi melalui uji basah in vitro (enzymatic assay IC50 &amp; kinetika Michaelis-Menten) serta evaluasi farmakokinetik &amp; toksisitas in vivo.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460C0E"/>
          </a:solidFill>
          <a:ln w="12700">
            <a:solidFill>
              <a:srgbClr val="A5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87568"/>
            <a:ext cx="105457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1">
                <a:solidFill>
                  <a:srgbClr val="FFFFFF"/>
                </a:solidFill>
                <a:latin typeface="Segoe UI"/>
              </a:defRPr>
            </a:pPr>
            <a:r>
              <a:t>"Luteolin terbukti in silico sebagai lead compound paling menjanjikan dalam menginhibisi Human α-Glucosidase secara selektif, menjadi pijakan kuat untuk riset eksperimental in vitro lanjutan."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